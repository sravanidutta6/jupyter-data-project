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6"/>
  </p:notesMasterIdLst>
  <p:sldIdLst>
    <p:sldId id="256" r:id="rId5"/>
    <p:sldId id="2146847054" r:id="rId6"/>
    <p:sldId id="262" r:id="rId7"/>
    <p:sldId id="2146847056" r:id="rId8"/>
    <p:sldId id="2146847057" r:id="rId9"/>
    <p:sldId id="2146847059" r:id="rId10"/>
    <p:sldId id="2146847060" r:id="rId11"/>
    <p:sldId id="268" r:id="rId12"/>
    <p:sldId id="2146847055" r:id="rId13"/>
    <p:sldId id="269" r:id="rId14"/>
    <p:sldId id="214684706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660"/>
  </p:normalViewPr>
  <p:slideViewPr>
    <p:cSldViewPr snapToGrid="0">
      <p:cViewPr varScale="1">
        <p:scale>
          <a:sx n="103" d="100"/>
          <a:sy n="103" d="100"/>
        </p:scale>
        <p:origin x="633" y="8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22-06-2024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6/22/2024</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6/22/2024</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6/22/2024</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6/22/2024</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6/22/2024</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6/22/2024</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6/22/2024</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6/22/2024</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6/22/2024</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6/22/2024</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6/22/2024</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6/22/2024</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099127" y="942110"/>
            <a:ext cx="9246962" cy="1513335"/>
          </a:xfrm>
        </p:spPr>
        <p:txBody>
          <a:bodyPr>
            <a:normAutofit fontScale="90000"/>
          </a:bodyPr>
          <a:lstStyle/>
          <a:p>
            <a:pPr algn="ctr"/>
            <a:r>
              <a:rPr lang="en-US" b="1" dirty="0">
                <a:solidFill>
                  <a:schemeClr val="accent1"/>
                </a:solidFill>
                <a:latin typeface="Times New Roman" panose="02020603050405020304" pitchFamily="18" charset="0"/>
                <a:cs typeface="Times New Roman" panose="02020603050405020304" pitchFamily="18" charset="0"/>
              </a:rPr>
              <a:t>SENTIMENT ANALYSIS</a:t>
            </a:r>
            <a:br>
              <a:rPr lang="en-US" b="1" dirty="0">
                <a:solidFill>
                  <a:schemeClr val="accent1"/>
                </a:solidFill>
                <a:latin typeface="Times New Roman" panose="02020603050405020304" pitchFamily="18" charset="0"/>
                <a:cs typeface="Times New Roman" panose="02020603050405020304" pitchFamily="18" charset="0"/>
              </a:rPr>
            </a:br>
            <a:r>
              <a:rPr lang="en-US" b="1" dirty="0">
                <a:solidFill>
                  <a:schemeClr val="accent1"/>
                </a:solidFill>
                <a:latin typeface="Times New Roman" panose="02020603050405020304" pitchFamily="18" charset="0"/>
                <a:cs typeface="Times New Roman" panose="02020603050405020304" pitchFamily="18" charset="0"/>
              </a:rPr>
              <a:t>O</a:t>
            </a:r>
            <a:r>
              <a:rPr lang="en-US" b="1" dirty="0">
                <a:solidFill>
                  <a:srgbClr val="0070C0"/>
                </a:solidFill>
                <a:latin typeface="Times New Roman" panose="02020603050405020304" pitchFamily="18" charset="0"/>
                <a:cs typeface="Times New Roman" panose="02020603050405020304" pitchFamily="18" charset="0"/>
              </a:rPr>
              <a:t>F</a:t>
            </a:r>
            <a:br>
              <a:rPr lang="en-US" b="1" dirty="0">
                <a:solidFill>
                  <a:schemeClr val="accent1"/>
                </a:solidFill>
                <a:latin typeface="Times New Roman" panose="02020603050405020304" pitchFamily="18" charset="0"/>
                <a:cs typeface="Times New Roman" panose="02020603050405020304" pitchFamily="18" charset="0"/>
              </a:rPr>
            </a:br>
            <a:r>
              <a:rPr lang="en-US" b="1" dirty="0">
                <a:solidFill>
                  <a:schemeClr val="accent1"/>
                </a:solidFill>
                <a:latin typeface="Times New Roman" panose="02020603050405020304" pitchFamily="18" charset="0"/>
                <a:cs typeface="Times New Roman" panose="02020603050405020304" pitchFamily="18" charset="0"/>
              </a:rPr>
              <a:t> </a:t>
            </a:r>
            <a:r>
              <a:rPr lang="en-US" sz="3600" b="1" dirty="0">
                <a:solidFill>
                  <a:srgbClr val="0070C0"/>
                </a:solidFill>
                <a:latin typeface="Times New Roman" panose="02020603050405020304" pitchFamily="18" charset="0"/>
                <a:ea typeface="Eudoxus Sans" pitchFamily="34" charset="-122"/>
                <a:cs typeface="Times New Roman" panose="02020603050405020304" pitchFamily="18" charset="0"/>
              </a:rPr>
              <a:t>restaurant reviews </a:t>
            </a: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1736437" y="3428999"/>
            <a:ext cx="9421090" cy="2246769"/>
          </a:xfrm>
          <a:prstGeom prst="rect">
            <a:avLst/>
          </a:prstGeom>
          <a:noFill/>
        </p:spPr>
        <p:txBody>
          <a:bodyPr wrap="square" lIns="91440" tIns="45720" rIns="91440" bIns="45720" rtlCol="0" anchor="t">
            <a:spAutoFit/>
          </a:bodyPr>
          <a:lstStyle/>
          <a:p>
            <a:pPr>
              <a:lnSpc>
                <a:spcPct val="150000"/>
              </a:lnSpc>
            </a:pPr>
            <a:r>
              <a:rPr lang="en-US" sz="2000" b="1" dirty="0">
                <a:solidFill>
                  <a:schemeClr val="accent1">
                    <a:lumMod val="75000"/>
                  </a:schemeClr>
                </a:solidFill>
                <a:latin typeface="Times New Roman" panose="02020603050405020304" pitchFamily="18" charset="0"/>
                <a:cs typeface="Times New Roman" panose="02020603050405020304" pitchFamily="18" charset="0"/>
              </a:rPr>
              <a:t>Presented By : DUTTA SRAVANI</a:t>
            </a:r>
          </a:p>
          <a:p>
            <a:pPr marL="342900" indent="-342900">
              <a:lnSpc>
                <a:spcPct val="150000"/>
              </a:lnSpc>
              <a:buFont typeface="Arial" panose="020B0604020202020204" pitchFamily="34" charset="0"/>
              <a:buChar char="•"/>
            </a:pPr>
            <a:r>
              <a:rPr lang="en-US" sz="2000" b="1" dirty="0">
                <a:solidFill>
                  <a:schemeClr val="accent1">
                    <a:lumMod val="75000"/>
                  </a:schemeClr>
                </a:solidFill>
                <a:latin typeface="Times New Roman" panose="02020603050405020304" pitchFamily="18" charset="0"/>
                <a:cs typeface="Times New Roman" panose="02020603050405020304" pitchFamily="18" charset="0"/>
              </a:rPr>
              <a:t>Student Name : Dutta Sravani</a:t>
            </a:r>
          </a:p>
          <a:p>
            <a:pPr marL="342900" indent="-342900">
              <a:lnSpc>
                <a:spcPct val="150000"/>
              </a:lnSpc>
              <a:buFont typeface="Arial" panose="020B0604020202020204" pitchFamily="34" charset="0"/>
              <a:buChar char="•"/>
            </a:pPr>
            <a:r>
              <a:rPr lang="en-US" sz="2000" b="1" dirty="0">
                <a:solidFill>
                  <a:schemeClr val="accent1">
                    <a:lumMod val="75000"/>
                  </a:schemeClr>
                </a:solidFill>
                <a:latin typeface="Times New Roman" panose="02020603050405020304" pitchFamily="18" charset="0"/>
                <a:cs typeface="Times New Roman" panose="02020603050405020304" pitchFamily="18" charset="0"/>
              </a:rPr>
              <a:t>College Name : Usha Rama College Of Engineering And Technology</a:t>
            </a:r>
          </a:p>
          <a:p>
            <a:pPr marL="342900" indent="-342900">
              <a:lnSpc>
                <a:spcPct val="150000"/>
              </a:lnSpc>
              <a:buFont typeface="Arial" panose="020B0604020202020204" pitchFamily="34" charset="0"/>
              <a:buChar char="•"/>
            </a:pPr>
            <a:r>
              <a:rPr lang="en-US" sz="2000" b="1" dirty="0">
                <a:solidFill>
                  <a:schemeClr val="accent1">
                    <a:lumMod val="75000"/>
                  </a:schemeClr>
                </a:solidFill>
                <a:latin typeface="Times New Roman" panose="02020603050405020304" pitchFamily="18" charset="0"/>
                <a:cs typeface="Times New Roman" panose="02020603050405020304" pitchFamily="18" charset="0"/>
              </a:rPr>
              <a:t>Department : Electronics And communication Engineering</a:t>
            </a:r>
          </a:p>
          <a:p>
            <a:endParaRPr lang="en-US" sz="2000" b="1" dirty="0">
              <a:solidFill>
                <a:schemeClr val="accent1">
                  <a:lumMod val="75000"/>
                </a:schemeClr>
              </a:solidFill>
              <a:latin typeface="Arial"/>
              <a:cs typeface="Arial"/>
            </a:endParaRP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1154373" y="285752"/>
            <a:ext cx="10515600" cy="1325563"/>
          </a:xfrm>
        </p:spPr>
        <p:txBody>
          <a:bodyPr>
            <a:normAutofit/>
          </a:bodyPr>
          <a:lstStyle/>
          <a:p>
            <a:r>
              <a:rPr lang="en-US" sz="3200" b="1" dirty="0">
                <a:solidFill>
                  <a:schemeClr val="accent1"/>
                </a:solidFill>
                <a:latin typeface="Times New Roman" panose="02020603050405020304" pitchFamily="18" charset="0"/>
                <a:cs typeface="Times New Roman" panose="02020603050405020304" pitchFamily="18"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91290" y="1360949"/>
            <a:ext cx="11019020" cy="5239062"/>
          </a:xfrm>
        </p:spPr>
        <p:txBody>
          <a:bodyPr vert="horz" lIns="91440" tIns="45720" rIns="91440" bIns="45720" rtlCol="0" anchor="t">
            <a:noAutofit/>
          </a:bodyPr>
          <a:lstStyle/>
          <a:p>
            <a:pPr marL="0" indent="0">
              <a:buNone/>
            </a:pPr>
            <a:r>
              <a:rPr lang="en-US" sz="2000" b="1" dirty="0">
                <a:latin typeface="Times New Roman" panose="02020603050405020304" pitchFamily="18" charset="0"/>
                <a:ea typeface="+mn-lt"/>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ea typeface="+mn-lt"/>
                <a:cs typeface="Times New Roman" panose="02020603050405020304" pitchFamily="18" charset="0"/>
              </a:rPr>
              <a:t>Problem Statement </a:t>
            </a:r>
          </a:p>
          <a:p>
            <a:r>
              <a:rPr lang="en-US" sz="2000" dirty="0">
                <a:latin typeface="Times New Roman" panose="02020603050405020304" pitchFamily="18" charset="0"/>
                <a:ea typeface="+mn-lt"/>
                <a:cs typeface="Times New Roman" panose="02020603050405020304" pitchFamily="18" charset="0"/>
              </a:rPr>
              <a:t>Proposed System/Solution</a:t>
            </a:r>
            <a:endParaRPr lang="en-US"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ea typeface="+mn-lt"/>
                <a:cs typeface="Times New Roman" panose="02020603050405020304" pitchFamily="18" charset="0"/>
              </a:rPr>
              <a:t>System Development Approach</a:t>
            </a:r>
            <a:endParaRPr lang="en-US" dirty="0">
              <a:latin typeface="Times New Roman" panose="02020603050405020304" pitchFamily="18" charset="0"/>
              <a:ea typeface="+mn-lt"/>
              <a:cs typeface="Times New Roman" panose="02020603050405020304" pitchFamily="18" charset="0"/>
            </a:endParaRPr>
          </a:p>
          <a:p>
            <a:r>
              <a:rPr lang="en-US" sz="2000" dirty="0">
                <a:latin typeface="Times New Roman" panose="02020603050405020304" pitchFamily="18" charset="0"/>
                <a:ea typeface="+mn-lt"/>
                <a:cs typeface="Times New Roman" panose="02020603050405020304" pitchFamily="18" charset="0"/>
              </a:rPr>
              <a:t>Algorithm &amp; Deployment  </a:t>
            </a:r>
            <a:endParaRPr lang="en-US"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ea typeface="+mn-lt"/>
                <a:cs typeface="Times New Roman" panose="02020603050405020304" pitchFamily="18" charset="0"/>
              </a:rPr>
              <a:t>Result</a:t>
            </a:r>
          </a:p>
          <a:p>
            <a:r>
              <a:rPr lang="en-US" sz="2000" dirty="0">
                <a:latin typeface="Times New Roman" panose="02020603050405020304" pitchFamily="18" charset="0"/>
                <a:ea typeface="+mn-lt"/>
                <a:cs typeface="Times New Roman" panose="02020603050405020304" pitchFamily="18" charset="0"/>
              </a:rPr>
              <a:t>Conclusion</a:t>
            </a:r>
            <a:endParaRPr lang="en-US"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ea typeface="+mn-lt"/>
                <a:cs typeface="Times New Roman" panose="02020603050405020304" pitchFamily="18" charset="0"/>
              </a:rPr>
              <a:t>Future Scope</a:t>
            </a:r>
          </a:p>
          <a:p>
            <a:r>
              <a:rPr lang="en-US" sz="2000" dirty="0">
                <a:latin typeface="Times New Roman" panose="02020603050405020304" pitchFamily="18" charset="0"/>
                <a:ea typeface="+mn-lt"/>
                <a:cs typeface="Times New Roman" panose="02020603050405020304" pitchFamily="18" charset="0"/>
              </a:rPr>
              <a:t>References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709982" y="947044"/>
            <a:ext cx="11029616" cy="530296"/>
          </a:xfrm>
        </p:spPr>
        <p:txBody>
          <a:bodyPr>
            <a:noAutofit/>
          </a:bodyPr>
          <a:lstStyle/>
          <a:p>
            <a:pPr algn="just"/>
            <a:r>
              <a:rPr lang="en-US" sz="3200" b="1" dirty="0">
                <a:solidFill>
                  <a:schemeClr val="accent1"/>
                </a:solidFill>
                <a:latin typeface="Times New Roman" panose="02020603050405020304" pitchFamily="18" charset="0"/>
                <a:cs typeface="Times New Roman" panose="02020603050405020304" pitchFamily="18" charset="0"/>
              </a:rPr>
              <a:t>Problem Statement</a:t>
            </a:r>
            <a:endParaRPr lang="en-US" sz="3200" dirty="0">
              <a:latin typeface="Times New Roman" panose="02020603050405020304" pitchFamily="18" charset="0"/>
              <a:cs typeface="Times New Roman" panose="02020603050405020304" pitchFamily="18" charset="0"/>
            </a:endParaRPr>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normAutofit/>
          </a:bodyPr>
          <a:lstStyle/>
          <a:p>
            <a:pPr marL="0" indent="0">
              <a:lnSpc>
                <a:spcPct val="150000"/>
              </a:lnSpc>
              <a:buNone/>
            </a:pPr>
            <a:r>
              <a:rPr lang="en-US" sz="1600" dirty="0">
                <a:solidFill>
                  <a:srgbClr val="272525"/>
                </a:solidFill>
                <a:latin typeface="Times New Roman" panose="02020603050405020304" pitchFamily="18" charset="0"/>
                <a:ea typeface="Eudoxus Sans" pitchFamily="34" charset="-122"/>
                <a:cs typeface="Times New Roman" panose="02020603050405020304" pitchFamily="18" charset="0"/>
              </a:rPr>
              <a:t>      Develop a Sentiment Analysis model to classify restaurant reviews as positive or negative. This presentation will   provide an overview of a sentiment analysis model designed to classify restaurant reviews as positive or negative, along with the key steps involved in its development and deployment. </a:t>
            </a:r>
            <a:r>
              <a:rPr lang="en-US" sz="1600" dirty="0">
                <a:latin typeface="Times New Roman" panose="02020603050405020304" pitchFamily="18" charset="0"/>
                <a:cs typeface="Times New Roman" panose="02020603050405020304" pitchFamily="18" charset="0"/>
              </a:rPr>
              <a:t>To analyze restaurant reviews and determine the sentiment (positive, negative, or neutral) expressed in each review.</a:t>
            </a:r>
          </a:p>
          <a:p>
            <a:pPr>
              <a:lnSpc>
                <a:spcPct val="150000"/>
              </a:lnSpc>
            </a:pPr>
            <a:endParaRPr lang="en-US" sz="1600" dirty="0">
              <a:latin typeface="Times New Roman" panose="02020603050405020304" pitchFamily="18" charset="0"/>
              <a:cs typeface="Times New Roman" panose="02020603050405020304" pitchFamily="18" charset="0"/>
            </a:endParaRPr>
          </a:p>
          <a:p>
            <a:pPr marL="305435" indent="-305435"/>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4ADE5E-BF14-8CE5-EF11-34DCC9F61044}"/>
              </a:ext>
            </a:extLst>
          </p:cNvPr>
          <p:cNvSpPr>
            <a:spLocks noGrp="1"/>
          </p:cNvSpPr>
          <p:nvPr>
            <p:ph idx="1"/>
          </p:nvPr>
        </p:nvSpPr>
        <p:spPr>
          <a:xfrm>
            <a:off x="662673" y="912727"/>
            <a:ext cx="11029615" cy="5357392"/>
          </a:xfrm>
        </p:spPr>
        <p:txBody>
          <a:bodyPr>
            <a:normAutofit/>
          </a:bodyPr>
          <a:lstStyle/>
          <a:p>
            <a:pPr>
              <a:lnSpc>
                <a:spcPct val="150000"/>
              </a:lnSpc>
              <a:buFont typeface="Wingdings" panose="05000000000000000000" pitchFamily="2" charset="2"/>
              <a:buChar char="v"/>
            </a:pPr>
            <a:r>
              <a:rPr lang="en-US" sz="1600" dirty="0">
                <a:solidFill>
                  <a:srgbClr val="272525"/>
                </a:solidFill>
                <a:latin typeface="Times New Roman" panose="02020603050405020304" pitchFamily="18" charset="0"/>
                <a:ea typeface="Eudoxus Sans" pitchFamily="34" charset="-122"/>
                <a:cs typeface="Times New Roman" panose="02020603050405020304" pitchFamily="18" charset="0"/>
              </a:rPr>
              <a:t>We have to take a PC, or any desktop having Anaconda or Python Jupyter Software. Insert the review data in Python Jupyter script. The first step is to preprocess the restaurant review data. This involves cleaning the text, removing stop words, and converting all text to a consistent format (e.g., lowercase) .</a:t>
            </a:r>
          </a:p>
          <a:p>
            <a:pPr>
              <a:lnSpc>
                <a:spcPct val="150000"/>
              </a:lnSpc>
              <a:buFont typeface="Wingdings" panose="05000000000000000000" pitchFamily="2" charset="2"/>
              <a:buChar char="v"/>
            </a:pPr>
            <a:r>
              <a:rPr lang="en-US" sz="1600" dirty="0">
                <a:solidFill>
                  <a:srgbClr val="272525"/>
                </a:solidFill>
                <a:latin typeface="Times New Roman" panose="02020603050405020304" pitchFamily="18" charset="0"/>
                <a:ea typeface="Eudoxus Sans" pitchFamily="34" charset="-122"/>
                <a:cs typeface="Times New Roman" panose="02020603050405020304" pitchFamily="18" charset="0"/>
              </a:rPr>
              <a:t>Sentiment analysis is a powerful tool for understanding customer sentiment towards products and services. Next, relevant features are extracted from the preprocessed text, such as n-grams, sentiment lexicons, and linguistic features.</a:t>
            </a:r>
          </a:p>
          <a:p>
            <a:pPr>
              <a:lnSpc>
                <a:spcPct val="150000"/>
              </a:lnSpc>
              <a:buFont typeface="Wingdings" panose="05000000000000000000" pitchFamily="2" charset="2"/>
              <a:buChar char="v"/>
            </a:pPr>
            <a:r>
              <a:rPr lang="en-US" sz="1600" dirty="0">
                <a:solidFill>
                  <a:srgbClr val="272525"/>
                </a:solidFill>
                <a:latin typeface="Times New Roman" panose="02020603050405020304" pitchFamily="18" charset="0"/>
                <a:ea typeface="Eudoxus Sans" pitchFamily="34" charset="-122"/>
                <a:cs typeface="Times New Roman" panose="02020603050405020304" pitchFamily="18" charset="0"/>
              </a:rPr>
              <a:t>These features will be used as inputs to the machine learning model. The preprocessed data and extracted features are then used to train a supervised machine learning model, such as a Support Vector Machine (SVM) or a Convolutional Neural Network (CNN), to classify the reviews as positive or negative.</a:t>
            </a:r>
            <a:endParaRPr lang="en-US" sz="16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v"/>
            </a:pPr>
            <a:r>
              <a:rPr lang="en-US" sz="1600" b="1" u="sng" dirty="0">
                <a:latin typeface="Times New Roman" panose="02020603050405020304" pitchFamily="18" charset="0"/>
                <a:cs typeface="Times New Roman" panose="02020603050405020304" pitchFamily="18" charset="0"/>
              </a:rPr>
              <a:t>Solution</a:t>
            </a:r>
            <a:r>
              <a:rPr lang="en-US" sz="1600" dirty="0"/>
              <a:t> :</a:t>
            </a:r>
            <a:r>
              <a:rPr lang="en-US" sz="1600" b="1" dirty="0"/>
              <a:t> </a:t>
            </a:r>
            <a:r>
              <a:rPr lang="en-US" sz="1600" dirty="0"/>
              <a:t> </a:t>
            </a:r>
            <a:r>
              <a:rPr lang="en-US" sz="1600" dirty="0">
                <a:latin typeface="Times New Roman" panose="02020603050405020304" pitchFamily="18" charset="0"/>
                <a:cs typeface="Times New Roman" panose="02020603050405020304" pitchFamily="18" charset="0"/>
              </a:rPr>
              <a:t>Identify common complaints and areas for improvement (e.g., food quality, service, ambiance)- Develop targeted solutions to address these issues- Monitor sentiment over time to evaluate the effectiveness of implemented solutions</a:t>
            </a:r>
          </a:p>
        </p:txBody>
      </p:sp>
      <p:sp>
        <p:nvSpPr>
          <p:cNvPr id="6" name="Title 5">
            <a:extLst>
              <a:ext uri="{FF2B5EF4-FFF2-40B4-BE49-F238E27FC236}">
                <a16:creationId xmlns:a16="http://schemas.microsoft.com/office/drawing/2014/main" id="{12312AF5-4925-F4F3-2D44-92BB832D430A}"/>
              </a:ext>
            </a:extLst>
          </p:cNvPr>
          <p:cNvSpPr>
            <a:spLocks noGrp="1"/>
          </p:cNvSpPr>
          <p:nvPr>
            <p:ph type="title"/>
          </p:nvPr>
        </p:nvSpPr>
        <p:spPr>
          <a:xfrm>
            <a:off x="991065" y="762676"/>
            <a:ext cx="11029616" cy="530296"/>
          </a:xfrm>
        </p:spPr>
        <p:txBody>
          <a:bodyPr>
            <a:noAutofit/>
          </a:bodyPr>
          <a:lstStyle/>
          <a:p>
            <a:r>
              <a:rPr lang="en-US" sz="3200" b="1" dirty="0">
                <a:solidFill>
                  <a:schemeClr val="accent1"/>
                </a:solidFill>
                <a:latin typeface="Times New Roman" panose="02020603050405020304" pitchFamily="18" charset="0"/>
                <a:cs typeface="Times New Roman" panose="02020603050405020304" pitchFamily="18" charset="0"/>
              </a:rPr>
              <a:t>PROPOSED SYSTEM/SOLUTION</a:t>
            </a:r>
          </a:p>
        </p:txBody>
      </p:sp>
    </p:spTree>
    <p:extLst>
      <p:ext uri="{BB962C8B-B14F-4D97-AF65-F5344CB8AC3E}">
        <p14:creationId xmlns:p14="http://schemas.microsoft.com/office/powerpoint/2010/main" val="34675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DF5CE-039B-4046-0C02-6E45B9DE31A7}"/>
              </a:ext>
            </a:extLst>
          </p:cNvPr>
          <p:cNvSpPr>
            <a:spLocks noGrp="1"/>
          </p:cNvSpPr>
          <p:nvPr>
            <p:ph type="title"/>
          </p:nvPr>
        </p:nvSpPr>
        <p:spPr>
          <a:xfrm>
            <a:off x="581192" y="738370"/>
            <a:ext cx="11029616" cy="530296"/>
          </a:xfrm>
        </p:spPr>
        <p:txBody>
          <a:bodyPr>
            <a:noAutofit/>
          </a:bodyPr>
          <a:lstStyle/>
          <a:p>
            <a:r>
              <a:rPr lang="en-US" sz="3200" b="1" cap="none" dirty="0">
                <a:solidFill>
                  <a:schemeClr val="accent1"/>
                </a:solidFill>
                <a:latin typeface="Times New Roman" panose="02020603050405020304" pitchFamily="18" charset="0"/>
                <a:cs typeface="Times New Roman" panose="02020603050405020304" pitchFamily="18" charset="0"/>
              </a:rPr>
              <a:t>SYSTEM DEVELOPMENT APPROACH</a:t>
            </a:r>
          </a:p>
        </p:txBody>
      </p:sp>
      <p:sp>
        <p:nvSpPr>
          <p:cNvPr id="3" name="Content Placeholder 2">
            <a:extLst>
              <a:ext uri="{FF2B5EF4-FFF2-40B4-BE49-F238E27FC236}">
                <a16:creationId xmlns:a16="http://schemas.microsoft.com/office/drawing/2014/main" id="{E1E459DC-41E1-090E-001D-93B84E264352}"/>
              </a:ext>
            </a:extLst>
          </p:cNvPr>
          <p:cNvSpPr>
            <a:spLocks noGrp="1"/>
          </p:cNvSpPr>
          <p:nvPr>
            <p:ph idx="1"/>
          </p:nvPr>
        </p:nvSpPr>
        <p:spPr>
          <a:xfrm>
            <a:off x="454443" y="1854288"/>
            <a:ext cx="11029615" cy="4682314"/>
          </a:xfrm>
        </p:spPr>
        <p:txBody>
          <a:bodyPr>
            <a:noAutofit/>
          </a:bodyPr>
          <a:lstStyle/>
          <a:p>
            <a:pPr marL="0" indent="0">
              <a:lnSpc>
                <a:spcPct val="100000"/>
              </a:lnSpc>
              <a:buNone/>
            </a:pPr>
            <a:r>
              <a:rPr lang="en-US" sz="1600" dirty="0">
                <a:solidFill>
                  <a:schemeClr val="tx1"/>
                </a:solidFill>
                <a:latin typeface="Times New Roman" panose="02020603050405020304" pitchFamily="18" charset="0"/>
                <a:cs typeface="Times New Roman" panose="02020603050405020304" pitchFamily="18" charset="0"/>
              </a:rPr>
              <a:t>               The development of a sentiment analysis project for restaurant reviews can be approached systematically using a structured        </a:t>
            </a:r>
          </a:p>
          <a:p>
            <a:pPr marL="0" indent="0">
              <a:lnSpc>
                <a:spcPct val="100000"/>
              </a:lnSpc>
              <a:buNone/>
            </a:pPr>
            <a:r>
              <a:rPr lang="en-US" sz="1600" dirty="0">
                <a:solidFill>
                  <a:schemeClr val="tx1"/>
                </a:solidFill>
                <a:latin typeface="Times New Roman" panose="02020603050405020304" pitchFamily="18" charset="0"/>
                <a:cs typeface="Times New Roman" panose="02020603050405020304" pitchFamily="18" charset="0"/>
              </a:rPr>
              <a:t>        methodology. Here's a detailed breakdown of the system development approach are</a:t>
            </a:r>
          </a:p>
          <a:p>
            <a:pPr>
              <a:lnSpc>
                <a:spcPct val="150000"/>
              </a:lnSpc>
              <a:buFont typeface="Wingdings" panose="05000000000000000000" pitchFamily="2" charset="2"/>
              <a:buChar char="v"/>
            </a:pPr>
            <a:r>
              <a:rPr lang="en-US" sz="1600" b="1" u="sng" dirty="0">
                <a:solidFill>
                  <a:schemeClr val="tx1"/>
                </a:solidFill>
                <a:latin typeface="Times New Roman" panose="02020603050405020304" pitchFamily="18" charset="0"/>
                <a:cs typeface="Times New Roman" panose="02020603050405020304" pitchFamily="18" charset="0"/>
              </a:rPr>
              <a:t>Prediction</a:t>
            </a:r>
            <a:r>
              <a:rPr lang="en-US" sz="1600" b="1" dirty="0">
                <a:solidFill>
                  <a:schemeClr val="tx1"/>
                </a:solidFill>
                <a:latin typeface="Times New Roman" panose="02020603050405020304" pitchFamily="18" charset="0"/>
                <a:cs typeface="Times New Roman" panose="02020603050405020304" pitchFamily="18" charset="0"/>
              </a:rPr>
              <a:t> : </a:t>
            </a:r>
            <a:r>
              <a:rPr lang="en-US" sz="1600" dirty="0">
                <a:latin typeface="Times New Roman" panose="02020603050405020304" pitchFamily="18" charset="0"/>
                <a:cs typeface="Times New Roman" panose="02020603050405020304" pitchFamily="18" charset="0"/>
              </a:rPr>
              <a:t>Predicting sentiment in restaurant reviews involves determining whether a review expresses a positive, negative, or neutral sentiment. This process typically leverages natural language processing (NLP) techniques and machine learning models. Here’s a high-level overview of how to perform sentiment analysis on restaurant reviews</a:t>
            </a:r>
            <a:endParaRPr lang="en-US" sz="1600" b="1" dirty="0">
              <a:solidFill>
                <a:schemeClr val="tx1"/>
              </a:solidFill>
              <a:latin typeface="Times New Roman" panose="02020603050405020304" pitchFamily="18" charset="0"/>
              <a:cs typeface="Times New Roman" panose="02020603050405020304" pitchFamily="18" charset="0"/>
            </a:endParaRPr>
          </a:p>
          <a:p>
            <a:pPr>
              <a:lnSpc>
                <a:spcPct val="100000"/>
              </a:lnSpc>
              <a:buFont typeface="Wingdings" panose="05000000000000000000" pitchFamily="2" charset="2"/>
              <a:buChar char="v"/>
            </a:pPr>
            <a:r>
              <a:rPr lang="en-US" sz="1600" b="1" dirty="0">
                <a:solidFill>
                  <a:schemeClr val="tx1"/>
                </a:solidFill>
                <a:latin typeface="Times New Roman" panose="02020603050405020304" pitchFamily="18" charset="0"/>
                <a:cs typeface="Times New Roman" panose="02020603050405020304" pitchFamily="18" charset="0"/>
              </a:rPr>
              <a:t> </a:t>
            </a:r>
            <a:r>
              <a:rPr lang="en-US" sz="1600" b="1" u="sng" dirty="0">
                <a:solidFill>
                  <a:schemeClr val="tx1"/>
                </a:solidFill>
                <a:latin typeface="Times New Roman" panose="02020603050405020304" pitchFamily="18" charset="0"/>
                <a:cs typeface="Times New Roman" panose="02020603050405020304" pitchFamily="18" charset="0"/>
              </a:rPr>
              <a:t>Data</a:t>
            </a:r>
            <a:r>
              <a:rPr lang="en-US" sz="1600" b="1" dirty="0">
                <a:solidFill>
                  <a:schemeClr val="tx1"/>
                </a:solidFill>
                <a:latin typeface="Times New Roman" panose="02020603050405020304" pitchFamily="18" charset="0"/>
                <a:cs typeface="Times New Roman" panose="02020603050405020304" pitchFamily="18" charset="0"/>
              </a:rPr>
              <a:t> </a:t>
            </a:r>
            <a:r>
              <a:rPr lang="en-US" sz="1600" b="1" u="sng" dirty="0">
                <a:solidFill>
                  <a:schemeClr val="tx1"/>
                </a:solidFill>
                <a:latin typeface="Times New Roman" panose="02020603050405020304" pitchFamily="18" charset="0"/>
                <a:cs typeface="Times New Roman" panose="02020603050405020304" pitchFamily="18" charset="0"/>
              </a:rPr>
              <a:t>Collection</a:t>
            </a:r>
            <a:r>
              <a:rPr lang="en-US" sz="1600" b="1" dirty="0">
                <a:solidFill>
                  <a:schemeClr val="tx1"/>
                </a:solidFill>
                <a:latin typeface="Times New Roman" panose="02020603050405020304" pitchFamily="18" charset="0"/>
                <a:cs typeface="Times New Roman" panose="02020603050405020304" pitchFamily="18" charset="0"/>
              </a:rPr>
              <a:t> </a:t>
            </a:r>
            <a:r>
              <a:rPr lang="en-US" sz="1600" b="1" u="sng" dirty="0">
                <a:solidFill>
                  <a:schemeClr val="tx1"/>
                </a:solidFill>
                <a:latin typeface="Times New Roman" panose="02020603050405020304" pitchFamily="18" charset="0"/>
                <a:cs typeface="Times New Roman" panose="02020603050405020304" pitchFamily="18" charset="0"/>
              </a:rPr>
              <a:t>and</a:t>
            </a:r>
            <a:r>
              <a:rPr lang="en-US" sz="1600" b="1" dirty="0">
                <a:solidFill>
                  <a:schemeClr val="tx1"/>
                </a:solidFill>
                <a:latin typeface="Times New Roman" panose="02020603050405020304" pitchFamily="18" charset="0"/>
                <a:cs typeface="Times New Roman" panose="02020603050405020304" pitchFamily="18" charset="0"/>
              </a:rPr>
              <a:t> </a:t>
            </a:r>
            <a:r>
              <a:rPr lang="en-US" sz="1600" b="1" u="sng" dirty="0">
                <a:solidFill>
                  <a:schemeClr val="tx1"/>
                </a:solidFill>
                <a:latin typeface="Times New Roman" panose="02020603050405020304" pitchFamily="18" charset="0"/>
                <a:cs typeface="Times New Roman" panose="02020603050405020304" pitchFamily="18" charset="0"/>
              </a:rPr>
              <a:t>Preprocessing</a:t>
            </a:r>
            <a:r>
              <a:rPr lang="en-US" sz="1600" b="1" dirty="0">
                <a:solidFill>
                  <a:schemeClr val="tx1"/>
                </a:solidFill>
                <a:latin typeface="Times New Roman" panose="02020603050405020304" pitchFamily="18" charset="0"/>
                <a:cs typeface="Times New Roman" panose="02020603050405020304" pitchFamily="18" charset="0"/>
              </a:rPr>
              <a:t> :</a:t>
            </a:r>
          </a:p>
          <a:p>
            <a:pPr marL="0" indent="0">
              <a:lnSpc>
                <a:spcPct val="100000"/>
              </a:lnSpc>
              <a:buNone/>
            </a:pPr>
            <a:r>
              <a:rPr lang="en-US" altLang="en-US" sz="1600" b="1" dirty="0">
                <a:solidFill>
                  <a:schemeClr val="tx1"/>
                </a:solidFill>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Scripts :</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Write scripts for collecting reviews and preprocessing text data.</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Libraries :  </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libraries such as pandas, nltk, sklearn, etc.</a:t>
            </a:r>
            <a:endParaRPr lang="en-US" altLang="en-US" sz="1600" dirty="0">
              <a:solidFill>
                <a:schemeClr val="tx1"/>
              </a:solidFill>
              <a:latin typeface="Times New Roman" panose="02020603050405020304" pitchFamily="18" charset="0"/>
              <a:cs typeface="Times New Roman" panose="02020603050405020304" pitchFamily="18" charset="0"/>
            </a:endParaRPr>
          </a:p>
          <a:p>
            <a:pPr>
              <a:lnSpc>
                <a:spcPct val="100000"/>
              </a:lnSpc>
              <a:buFont typeface="Wingdings" panose="05000000000000000000" pitchFamily="2" charset="2"/>
              <a:buChar char="v"/>
            </a:pPr>
            <a:r>
              <a:rPr lang="en-US" sz="1600" b="1" u="sng" dirty="0">
                <a:solidFill>
                  <a:schemeClr val="tx1"/>
                </a:solidFill>
                <a:latin typeface="Times New Roman" panose="02020603050405020304" pitchFamily="18" charset="0"/>
                <a:cs typeface="Times New Roman" panose="02020603050405020304" pitchFamily="18" charset="0"/>
              </a:rPr>
              <a:t>Accuracy</a:t>
            </a:r>
            <a:r>
              <a:rPr lang="en-US" sz="1600" b="1" dirty="0">
                <a:solidFill>
                  <a:schemeClr val="tx1"/>
                </a:solidFill>
                <a:latin typeface="Times New Roman" panose="02020603050405020304" pitchFamily="18" charset="0"/>
                <a:cs typeface="Times New Roman" panose="02020603050405020304" pitchFamily="18" charset="0"/>
              </a:rPr>
              <a:t> :</a:t>
            </a:r>
          </a:p>
          <a:p>
            <a:pPr marL="0" indent="0">
              <a:lnSpc>
                <a:spcPct val="100000"/>
              </a:lnSpc>
              <a:buNone/>
            </a:pPr>
            <a:r>
              <a:rPr lang="en-US" sz="1600" b="1" dirty="0">
                <a:solidFill>
                  <a:schemeClr val="tx1"/>
                </a:solidFill>
                <a:latin typeface="Times New Roman" panose="02020603050405020304" pitchFamily="18" charset="0"/>
                <a:cs typeface="Times New Roman" panose="02020603050405020304" pitchFamily="18" charset="0"/>
              </a:rPr>
              <a:t>      </a:t>
            </a:r>
            <a:r>
              <a:rPr lang="en-US" sz="1600" dirty="0">
                <a:solidFill>
                  <a:srgbClr val="272525"/>
                </a:solidFill>
                <a:latin typeface="Times New Roman" panose="02020603050405020304" pitchFamily="18" charset="0"/>
                <a:ea typeface="Eudoxus Sans" pitchFamily="34" charset="-122"/>
                <a:cs typeface="Times New Roman" panose="02020603050405020304" pitchFamily="18" charset="0"/>
              </a:rPr>
              <a:t>The sentiment analysis model achieved an accuracy of 88% on a hold-out test set, demonstrating its ability to reliably classify  </a:t>
            </a:r>
          </a:p>
          <a:p>
            <a:pPr marL="0" indent="0">
              <a:lnSpc>
                <a:spcPct val="100000"/>
              </a:lnSpc>
              <a:buNone/>
            </a:pPr>
            <a:r>
              <a:rPr lang="en-US" sz="1600" dirty="0">
                <a:solidFill>
                  <a:srgbClr val="272525"/>
                </a:solidFill>
                <a:latin typeface="Times New Roman" panose="02020603050405020304" pitchFamily="18" charset="0"/>
                <a:ea typeface="Eudoxus Sans" pitchFamily="34" charset="-122"/>
                <a:cs typeface="Times New Roman" panose="02020603050405020304" pitchFamily="18" charset="0"/>
              </a:rPr>
              <a:t>      restaurant reviews as positive or negative.</a:t>
            </a:r>
            <a:endParaRPr lang="en-US" sz="1600" b="1" dirty="0">
              <a:solidFill>
                <a:schemeClr val="tx1"/>
              </a:solidFill>
              <a:latin typeface="Times New Roman" panose="02020603050405020304" pitchFamily="18" charset="0"/>
              <a:cs typeface="Times New Roman" panose="02020603050405020304" pitchFamily="18" charset="0"/>
            </a:endParaRPr>
          </a:p>
          <a:p>
            <a:pPr>
              <a:lnSpc>
                <a:spcPct val="100000"/>
              </a:lnSpc>
              <a:buFont typeface="Wingdings" panose="05000000000000000000" pitchFamily="2" charset="2"/>
              <a:buChar char="v"/>
            </a:pPr>
            <a:r>
              <a:rPr lang="en-US" sz="1600" b="1" u="sng" dirty="0">
                <a:solidFill>
                  <a:schemeClr val="tx1"/>
                </a:solidFill>
                <a:latin typeface="Times New Roman" panose="02020603050405020304" pitchFamily="18" charset="0"/>
                <a:cs typeface="Times New Roman" panose="02020603050405020304" pitchFamily="18" charset="0"/>
              </a:rPr>
              <a:t>Model</a:t>
            </a:r>
            <a:r>
              <a:rPr lang="en-US" sz="1600" b="1" dirty="0">
                <a:solidFill>
                  <a:schemeClr val="tx1"/>
                </a:solidFill>
                <a:latin typeface="Times New Roman" panose="02020603050405020304" pitchFamily="18" charset="0"/>
                <a:cs typeface="Times New Roman" panose="02020603050405020304" pitchFamily="18" charset="0"/>
              </a:rPr>
              <a:t> </a:t>
            </a:r>
            <a:r>
              <a:rPr lang="en-US" sz="1600" b="1" u="sng" dirty="0">
                <a:solidFill>
                  <a:schemeClr val="tx1"/>
                </a:solidFill>
                <a:latin typeface="Times New Roman" panose="02020603050405020304" pitchFamily="18" charset="0"/>
                <a:cs typeface="Times New Roman" panose="02020603050405020304" pitchFamily="18" charset="0"/>
              </a:rPr>
              <a:t>Development</a:t>
            </a:r>
            <a:r>
              <a:rPr lang="en-US" sz="1600" b="1" dirty="0">
                <a:solidFill>
                  <a:schemeClr val="tx1"/>
                </a:solidFill>
                <a:latin typeface="Times New Roman" panose="02020603050405020304" pitchFamily="18" charset="0"/>
                <a:cs typeface="Times New Roman" panose="02020603050405020304" pitchFamily="18" charset="0"/>
              </a:rPr>
              <a:t> :</a:t>
            </a:r>
            <a:endParaRPr lang="en-US" sz="1600" dirty="0">
              <a:solidFill>
                <a:schemeClr val="tx1"/>
              </a:solidFill>
              <a:latin typeface="Times New Roman" panose="02020603050405020304" pitchFamily="18" charset="0"/>
              <a:cs typeface="Times New Roman" panose="02020603050405020304" pitchFamily="18" charset="0"/>
            </a:endParaRPr>
          </a:p>
          <a:p>
            <a:pPr marL="0" indent="0">
              <a:lnSpc>
                <a:spcPct val="100000"/>
              </a:lnSpc>
              <a:buNone/>
            </a:pPr>
            <a:r>
              <a:rPr lang="en-US" sz="1600" dirty="0">
                <a:solidFill>
                  <a:schemeClr val="tx1"/>
                </a:solidFill>
                <a:latin typeface="Times New Roman" panose="02020603050405020304" pitchFamily="18" charset="0"/>
                <a:cs typeface="Times New Roman" panose="02020603050405020304" pitchFamily="18" charset="0"/>
              </a:rPr>
              <a:t>       </a:t>
            </a:r>
            <a:r>
              <a:rPr lang="en-US" sz="1600" b="1" dirty="0">
                <a:solidFill>
                  <a:schemeClr val="tx1"/>
                </a:solidFill>
                <a:latin typeface="Times New Roman" panose="02020603050405020304" pitchFamily="18" charset="0"/>
                <a:cs typeface="Times New Roman" panose="02020603050405020304" pitchFamily="18" charset="0"/>
              </a:rPr>
              <a:t>Feature Extraction : </a:t>
            </a:r>
            <a:r>
              <a:rPr lang="en-US" sz="1600" dirty="0">
                <a:solidFill>
                  <a:schemeClr val="tx1"/>
                </a:solidFill>
                <a:latin typeface="Times New Roman" panose="02020603050405020304" pitchFamily="18" charset="0"/>
                <a:cs typeface="Times New Roman" panose="02020603050405020304" pitchFamily="18" charset="0"/>
              </a:rPr>
              <a:t>Use techniques like TF-IDF, word embeddings.</a:t>
            </a:r>
          </a:p>
          <a:p>
            <a:pPr marL="0" indent="0">
              <a:lnSpc>
                <a:spcPct val="100000"/>
              </a:lnSpc>
              <a:buNone/>
            </a:pPr>
            <a:r>
              <a:rPr lang="en-US" sz="1600" b="1" dirty="0">
                <a:solidFill>
                  <a:schemeClr val="tx1"/>
                </a:solidFill>
                <a:latin typeface="Times New Roman" panose="02020603050405020304" pitchFamily="18" charset="0"/>
                <a:cs typeface="Times New Roman" panose="02020603050405020304" pitchFamily="18" charset="0"/>
              </a:rPr>
              <a:t>       Model Training :  </a:t>
            </a:r>
            <a:r>
              <a:rPr lang="en-US" sz="1600" dirty="0">
                <a:solidFill>
                  <a:schemeClr val="tx1"/>
                </a:solidFill>
                <a:latin typeface="Times New Roman" panose="02020603050405020304" pitchFamily="18" charset="0"/>
                <a:cs typeface="Times New Roman" panose="02020603050405020304" pitchFamily="18" charset="0"/>
              </a:rPr>
              <a:t>Train models such as Naive Bayes, SVM, or LSTM/BERT.</a:t>
            </a:r>
          </a:p>
          <a:p>
            <a:pPr>
              <a:lnSpc>
                <a:spcPct val="100000"/>
              </a:lnSpc>
              <a:buFont typeface="Wingdings" panose="05000000000000000000" pitchFamily="2" charset="2"/>
              <a:buChar char="v"/>
            </a:pPr>
            <a:endParaRPr lang="en-US" sz="16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769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37083-AC6B-F888-E464-404C8A091015}"/>
              </a:ext>
            </a:extLst>
          </p:cNvPr>
          <p:cNvSpPr>
            <a:spLocks noGrp="1"/>
          </p:cNvSpPr>
          <p:nvPr>
            <p:ph type="title"/>
          </p:nvPr>
        </p:nvSpPr>
        <p:spPr>
          <a:xfrm>
            <a:off x="719738" y="877647"/>
            <a:ext cx="11029616" cy="530296"/>
          </a:xfrm>
        </p:spPr>
        <p:txBody>
          <a:bodyPr>
            <a:normAutofit/>
          </a:bodyPr>
          <a:lstStyle/>
          <a:p>
            <a:r>
              <a:rPr lang="en-US" sz="2800" b="1" dirty="0">
                <a:solidFill>
                  <a:schemeClr val="accent1"/>
                </a:solidFill>
                <a:latin typeface="Times New Roman" panose="02020603050405020304" pitchFamily="18" charset="0"/>
                <a:ea typeface="+mn-lt"/>
                <a:cs typeface="Times New Roman" panose="02020603050405020304" pitchFamily="18" charset="0"/>
              </a:rPr>
              <a:t>Algorithm &amp; Deployment  </a:t>
            </a:r>
            <a:endParaRPr lang="en-US" b="1" dirty="0">
              <a:solidFill>
                <a:schemeClr val="accent1"/>
              </a:solidFill>
            </a:endParaRPr>
          </a:p>
        </p:txBody>
      </p:sp>
      <p:sp>
        <p:nvSpPr>
          <p:cNvPr id="3" name="Content Placeholder 2">
            <a:extLst>
              <a:ext uri="{FF2B5EF4-FFF2-40B4-BE49-F238E27FC236}">
                <a16:creationId xmlns:a16="http://schemas.microsoft.com/office/drawing/2014/main" id="{F8505A21-CA5A-8DF3-452C-BBB0B35A2BAB}"/>
              </a:ext>
            </a:extLst>
          </p:cNvPr>
          <p:cNvSpPr>
            <a:spLocks noGrp="1"/>
          </p:cNvSpPr>
          <p:nvPr>
            <p:ph idx="1"/>
          </p:nvPr>
        </p:nvSpPr>
        <p:spPr>
          <a:xfrm>
            <a:off x="498064" y="2077880"/>
            <a:ext cx="11029615" cy="4673324"/>
          </a:xfrm>
        </p:spPr>
        <p:txBody>
          <a:bodyPr>
            <a:noAutofit/>
          </a:bodyPr>
          <a:lstStyle/>
          <a:p>
            <a:pPr>
              <a:lnSpc>
                <a:spcPct val="150000"/>
              </a:lnSpc>
              <a:buFont typeface="Wingdings" panose="05000000000000000000" pitchFamily="2" charset="2"/>
              <a:buChar char="v"/>
            </a:pPr>
            <a:r>
              <a:rPr lang="en-US" sz="1600" b="1" u="sng" dirty="0">
                <a:solidFill>
                  <a:schemeClr val="accent5">
                    <a:lumMod val="50000"/>
                  </a:schemeClr>
                </a:solidFill>
                <a:latin typeface="Times New Roman" panose="02020603050405020304" pitchFamily="18" charset="0"/>
                <a:cs typeface="Times New Roman" panose="02020603050405020304" pitchFamily="18" charset="0"/>
              </a:rPr>
              <a:t>Naive</a:t>
            </a:r>
            <a:r>
              <a:rPr lang="en-US" sz="1600" b="1" dirty="0">
                <a:solidFill>
                  <a:schemeClr val="accent5">
                    <a:lumMod val="50000"/>
                  </a:schemeClr>
                </a:solidFill>
                <a:latin typeface="Times New Roman" panose="02020603050405020304" pitchFamily="18" charset="0"/>
                <a:cs typeface="Times New Roman" panose="02020603050405020304" pitchFamily="18" charset="0"/>
              </a:rPr>
              <a:t> </a:t>
            </a:r>
            <a:r>
              <a:rPr lang="en-US" sz="1600" b="1" u="sng" dirty="0">
                <a:solidFill>
                  <a:schemeClr val="accent5">
                    <a:lumMod val="50000"/>
                  </a:schemeClr>
                </a:solidFill>
                <a:latin typeface="Times New Roman" panose="02020603050405020304" pitchFamily="18" charset="0"/>
                <a:cs typeface="Times New Roman" panose="02020603050405020304" pitchFamily="18" charset="0"/>
              </a:rPr>
              <a:t>Bayes</a:t>
            </a:r>
            <a:r>
              <a:rPr lang="en-US" sz="1600" b="1" dirty="0">
                <a:solidFill>
                  <a:schemeClr val="accent5">
                    <a:lumMod val="50000"/>
                  </a:schemeClr>
                </a:solidFill>
                <a:latin typeface="Times New Roman" panose="02020603050405020304" pitchFamily="18" charset="0"/>
                <a:cs typeface="Times New Roman" panose="02020603050405020304" pitchFamily="18" charset="0"/>
              </a:rPr>
              <a:t> : </a:t>
            </a:r>
            <a:r>
              <a:rPr lang="en-US" sz="1600" dirty="0">
                <a:latin typeface="Times New Roman" panose="02020603050405020304" pitchFamily="18" charset="0"/>
                <a:cs typeface="Times New Roman" panose="02020603050405020304" pitchFamily="18" charset="0"/>
              </a:rPr>
              <a:t>The Navie Bayes algorithm is a machine learning technique that can be used to classify the sentiment of restaurant Reviews as positive or negative. The algorithm uses training data to learn the probability of word appearing in positive, negative. It then calculates the conditional probabilities of words given each sentiment class . The trained model’s prediction ability can be assessed using test data.</a:t>
            </a:r>
            <a:endParaRPr lang="en-US" sz="1600" b="1" dirty="0">
              <a:latin typeface="Times New Roman" panose="02020603050405020304" pitchFamily="18" charset="0"/>
              <a:cs typeface="Times New Roman" panose="02020603050405020304" pitchFamily="18" charset="0"/>
            </a:endParaRPr>
          </a:p>
          <a:p>
            <a:pPr>
              <a:lnSpc>
                <a:spcPct val="100000"/>
              </a:lnSpc>
              <a:buFont typeface="Wingdings" panose="05000000000000000000" pitchFamily="2" charset="2"/>
              <a:buChar char="v"/>
            </a:pPr>
            <a:r>
              <a:rPr lang="en-US" sz="1600" b="1" u="sng" dirty="0">
                <a:latin typeface="Times New Roman" panose="02020603050405020304" pitchFamily="18" charset="0"/>
                <a:cs typeface="Times New Roman" panose="02020603050405020304" pitchFamily="18" charset="0"/>
              </a:rPr>
              <a:t>Data</a:t>
            </a:r>
            <a:r>
              <a:rPr lang="en-US" sz="1600" b="1" dirty="0">
                <a:latin typeface="Times New Roman" panose="02020603050405020304" pitchFamily="18" charset="0"/>
                <a:cs typeface="Times New Roman" panose="02020603050405020304" pitchFamily="18" charset="0"/>
              </a:rPr>
              <a:t> </a:t>
            </a:r>
            <a:r>
              <a:rPr lang="en-US" sz="1600" b="1" u="sng" dirty="0">
                <a:latin typeface="Times New Roman" panose="02020603050405020304" pitchFamily="18" charset="0"/>
                <a:cs typeface="Times New Roman" panose="02020603050405020304" pitchFamily="18" charset="0"/>
              </a:rPr>
              <a:t>Preprocessing</a:t>
            </a:r>
            <a:r>
              <a:rPr lang="en-US" sz="1600" b="1" dirty="0">
                <a:latin typeface="Times New Roman" panose="02020603050405020304" pitchFamily="18" charset="0"/>
                <a:cs typeface="Times New Roman" panose="02020603050405020304" pitchFamily="18" charset="0"/>
              </a:rPr>
              <a:t> :</a:t>
            </a:r>
          </a:p>
          <a:p>
            <a:pPr>
              <a:lnSpc>
                <a:spcPct val="10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Text Cleaning:</a:t>
            </a:r>
            <a:r>
              <a:rPr lang="en-US" sz="1600" dirty="0">
                <a:latin typeface="Times New Roman" panose="02020603050405020304" pitchFamily="18" charset="0"/>
                <a:cs typeface="Times New Roman" panose="02020603050405020304" pitchFamily="18" charset="0"/>
              </a:rPr>
              <a:t> Remove HTML tags, special characters, numbers, and stop words.</a:t>
            </a:r>
          </a:p>
          <a:p>
            <a:pPr>
              <a:lnSpc>
                <a:spcPct val="10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Tokenization:</a:t>
            </a:r>
            <a:r>
              <a:rPr lang="en-US" sz="1600" dirty="0">
                <a:latin typeface="Times New Roman" panose="02020603050405020304" pitchFamily="18" charset="0"/>
                <a:cs typeface="Times New Roman" panose="02020603050405020304" pitchFamily="18" charset="0"/>
              </a:rPr>
              <a:t> Split the text into individual words or tokens.</a:t>
            </a:r>
          </a:p>
          <a:p>
            <a:pPr>
              <a:lnSpc>
                <a:spcPct val="10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Lowercasing:</a:t>
            </a:r>
            <a:r>
              <a:rPr lang="en-US" sz="1600" dirty="0">
                <a:latin typeface="Times New Roman" panose="02020603050405020304" pitchFamily="18" charset="0"/>
                <a:cs typeface="Times New Roman" panose="02020603050405020304" pitchFamily="18" charset="0"/>
              </a:rPr>
              <a:t> Convert all text to lowercase to maintain consistency.</a:t>
            </a:r>
          </a:p>
          <a:p>
            <a:pPr>
              <a:lnSpc>
                <a:spcPct val="10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Lemmatization/Stemming:</a:t>
            </a:r>
            <a:r>
              <a:rPr lang="en-US" sz="1600" dirty="0">
                <a:latin typeface="Times New Roman" panose="02020603050405020304" pitchFamily="18" charset="0"/>
                <a:cs typeface="Times New Roman" panose="02020603050405020304" pitchFamily="18" charset="0"/>
              </a:rPr>
              <a:t> Reduce words to their base or root form.</a:t>
            </a:r>
          </a:p>
          <a:p>
            <a:pPr>
              <a:lnSpc>
                <a:spcPct val="100000"/>
              </a:lnSpc>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a:lnSpc>
                <a:spcPct val="100000"/>
              </a:lnSpc>
              <a:buFont typeface="Wingdings" panose="05000000000000000000" pitchFamily="2" charset="2"/>
              <a:buChar char="v"/>
            </a:pPr>
            <a:r>
              <a:rPr lang="en-US" sz="1600" b="1" u="sng" dirty="0">
                <a:latin typeface="Times New Roman" panose="02020603050405020304" pitchFamily="18" charset="0"/>
                <a:cs typeface="Times New Roman" panose="02020603050405020304" pitchFamily="18" charset="0"/>
              </a:rPr>
              <a:t>Model</a:t>
            </a:r>
            <a:r>
              <a:rPr lang="en-US" sz="1600" b="1" dirty="0">
                <a:latin typeface="Times New Roman" panose="02020603050405020304" pitchFamily="18" charset="0"/>
                <a:cs typeface="Times New Roman" panose="02020603050405020304" pitchFamily="18" charset="0"/>
              </a:rPr>
              <a:t> </a:t>
            </a:r>
            <a:r>
              <a:rPr lang="en-US" sz="1600" b="1" u="sng" dirty="0">
                <a:latin typeface="Times New Roman" panose="02020603050405020304" pitchFamily="18" charset="0"/>
                <a:cs typeface="Times New Roman" panose="02020603050405020304" pitchFamily="18" charset="0"/>
              </a:rPr>
              <a:t>Deployment</a:t>
            </a:r>
            <a:r>
              <a:rPr lang="en-US" sz="1600" b="1" dirty="0">
                <a:latin typeface="Times New Roman" panose="02020603050405020304" pitchFamily="18" charset="0"/>
                <a:cs typeface="Times New Roman" panose="02020603050405020304" pitchFamily="18" charset="0"/>
              </a:rPr>
              <a:t> :</a:t>
            </a:r>
          </a:p>
          <a:p>
            <a:pPr>
              <a:lnSpc>
                <a:spcPct val="10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API Development:</a:t>
            </a:r>
            <a:r>
              <a:rPr lang="en-US" sz="1600" dirty="0">
                <a:latin typeface="Times New Roman" panose="02020603050405020304" pitchFamily="18" charset="0"/>
                <a:cs typeface="Times New Roman" panose="02020603050405020304" pitchFamily="18" charset="0"/>
              </a:rPr>
              <a:t> Use a web framework like Flask or FastAPI to create an API for the sentiment analysis model.</a:t>
            </a:r>
          </a:p>
          <a:p>
            <a:pPr>
              <a:lnSpc>
                <a:spcPct val="10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Containerization:</a:t>
            </a:r>
            <a:r>
              <a:rPr lang="en-US" sz="1600" dirty="0">
                <a:latin typeface="Times New Roman" panose="02020603050405020304" pitchFamily="18" charset="0"/>
                <a:cs typeface="Times New Roman" panose="02020603050405020304" pitchFamily="18" charset="0"/>
              </a:rPr>
              <a:t> Use Docker to containerize the application for consistent deployment.</a:t>
            </a:r>
          </a:p>
          <a:p>
            <a:pPr>
              <a:lnSpc>
                <a:spcPct val="10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Cloud Deployment:</a:t>
            </a:r>
            <a:r>
              <a:rPr lang="en-US" sz="1600" dirty="0">
                <a:latin typeface="Times New Roman" panose="02020603050405020304" pitchFamily="18" charset="0"/>
                <a:cs typeface="Times New Roman" panose="02020603050405020304" pitchFamily="18" charset="0"/>
              </a:rPr>
              <a:t> Deploy the containerized application to a cloud service provider like AWS, Google Cloud, or Azure</a:t>
            </a:r>
          </a:p>
          <a:p>
            <a:pPr marL="0" indent="0">
              <a:buNone/>
            </a:pPr>
            <a:endParaRPr lang="en-US" sz="1600" dirty="0"/>
          </a:p>
        </p:txBody>
      </p:sp>
    </p:spTree>
    <p:extLst>
      <p:ext uri="{BB962C8B-B14F-4D97-AF65-F5344CB8AC3E}">
        <p14:creationId xmlns:p14="http://schemas.microsoft.com/office/powerpoint/2010/main" val="3293175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ACB18-A894-C3EB-A6A1-B24B95E3386E}"/>
              </a:ext>
            </a:extLst>
          </p:cNvPr>
          <p:cNvSpPr>
            <a:spLocks noGrp="1"/>
          </p:cNvSpPr>
          <p:nvPr>
            <p:ph type="title"/>
          </p:nvPr>
        </p:nvSpPr>
        <p:spPr/>
        <p:txBody>
          <a:bodyPr>
            <a:noAutofit/>
          </a:bodyPr>
          <a:lstStyle/>
          <a:p>
            <a:r>
              <a:rPr lang="en-US" sz="3200" b="1" dirty="0">
                <a:solidFill>
                  <a:schemeClr val="accent1"/>
                </a:solidFill>
                <a:latin typeface="Times New Roman" panose="02020603050405020304" pitchFamily="18" charset="0"/>
                <a:cs typeface="Times New Roman" panose="02020603050405020304" pitchFamily="18" charset="0"/>
              </a:rPr>
              <a:t>RESULT</a:t>
            </a:r>
          </a:p>
        </p:txBody>
      </p:sp>
      <p:pic>
        <p:nvPicPr>
          <p:cNvPr id="7" name="Picture 6">
            <a:extLst>
              <a:ext uri="{FF2B5EF4-FFF2-40B4-BE49-F238E27FC236}">
                <a16:creationId xmlns:a16="http://schemas.microsoft.com/office/drawing/2014/main" id="{32E74C48-9971-CFC3-0DA5-8DB2D129FD92}"/>
              </a:ext>
            </a:extLst>
          </p:cNvPr>
          <p:cNvPicPr>
            <a:picLocks noChangeAspect="1"/>
          </p:cNvPicPr>
          <p:nvPr/>
        </p:nvPicPr>
        <p:blipFill>
          <a:blip r:embed="rId2"/>
          <a:stretch>
            <a:fillRect/>
          </a:stretch>
        </p:blipFill>
        <p:spPr>
          <a:xfrm>
            <a:off x="5637899" y="893062"/>
            <a:ext cx="6664937" cy="3000208"/>
          </a:xfrm>
          <a:prstGeom prst="rect">
            <a:avLst/>
          </a:prstGeom>
        </p:spPr>
      </p:pic>
      <p:pic>
        <p:nvPicPr>
          <p:cNvPr id="9" name="Picture 8">
            <a:extLst>
              <a:ext uri="{FF2B5EF4-FFF2-40B4-BE49-F238E27FC236}">
                <a16:creationId xmlns:a16="http://schemas.microsoft.com/office/drawing/2014/main" id="{71A255DF-8D5E-B375-43CE-ECB6E4699466}"/>
              </a:ext>
            </a:extLst>
          </p:cNvPr>
          <p:cNvPicPr>
            <a:picLocks noChangeAspect="1"/>
          </p:cNvPicPr>
          <p:nvPr/>
        </p:nvPicPr>
        <p:blipFill>
          <a:blip r:embed="rId3"/>
          <a:stretch>
            <a:fillRect/>
          </a:stretch>
        </p:blipFill>
        <p:spPr>
          <a:xfrm>
            <a:off x="581192" y="3964208"/>
            <a:ext cx="4840553" cy="2642311"/>
          </a:xfrm>
          <a:prstGeom prst="rect">
            <a:avLst/>
          </a:prstGeom>
        </p:spPr>
      </p:pic>
      <p:pic>
        <p:nvPicPr>
          <p:cNvPr id="13" name="Picture 12">
            <a:extLst>
              <a:ext uri="{FF2B5EF4-FFF2-40B4-BE49-F238E27FC236}">
                <a16:creationId xmlns:a16="http://schemas.microsoft.com/office/drawing/2014/main" id="{2E9CE5DE-3657-2A2D-6715-5BEB4EB147BB}"/>
              </a:ext>
            </a:extLst>
          </p:cNvPr>
          <p:cNvPicPr>
            <a:picLocks noChangeAspect="1"/>
          </p:cNvPicPr>
          <p:nvPr/>
        </p:nvPicPr>
        <p:blipFill>
          <a:blip r:embed="rId4"/>
          <a:stretch>
            <a:fillRect/>
          </a:stretch>
        </p:blipFill>
        <p:spPr>
          <a:xfrm>
            <a:off x="5669445" y="4084176"/>
            <a:ext cx="6325899" cy="2807998"/>
          </a:xfrm>
          <a:prstGeom prst="rect">
            <a:avLst/>
          </a:prstGeom>
        </p:spPr>
      </p:pic>
      <p:pic>
        <p:nvPicPr>
          <p:cNvPr id="15" name="Picture 14">
            <a:extLst>
              <a:ext uri="{FF2B5EF4-FFF2-40B4-BE49-F238E27FC236}">
                <a16:creationId xmlns:a16="http://schemas.microsoft.com/office/drawing/2014/main" id="{134FF526-AAF4-C72B-0737-EA758DD3BD8A}"/>
              </a:ext>
            </a:extLst>
          </p:cNvPr>
          <p:cNvPicPr>
            <a:picLocks noChangeAspect="1"/>
          </p:cNvPicPr>
          <p:nvPr/>
        </p:nvPicPr>
        <p:blipFill>
          <a:blip r:embed="rId5"/>
          <a:stretch>
            <a:fillRect/>
          </a:stretch>
        </p:blipFill>
        <p:spPr>
          <a:xfrm>
            <a:off x="566528" y="1316935"/>
            <a:ext cx="4840553" cy="2647273"/>
          </a:xfrm>
          <a:prstGeom prst="rect">
            <a:avLst/>
          </a:prstGeom>
        </p:spPr>
      </p:pic>
      <p:sp>
        <p:nvSpPr>
          <p:cNvPr id="25" name="Content Placeholder 24">
            <a:extLst>
              <a:ext uri="{FF2B5EF4-FFF2-40B4-BE49-F238E27FC236}">
                <a16:creationId xmlns:a16="http://schemas.microsoft.com/office/drawing/2014/main" id="{623E8043-98BA-5748-1747-769BDA941C5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55653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Times New Roman" panose="02020603050405020304" pitchFamily="18" charset="0"/>
                <a:ea typeface="+mj-lt"/>
                <a:cs typeface="Times New Roman" panose="02020603050405020304" pitchFamily="18" charset="0"/>
              </a:rPr>
              <a:t>Conclusion</a:t>
            </a:r>
            <a:endParaRPr lang="en-US" dirty="0">
              <a:latin typeface="Times New Roman" panose="02020603050405020304" pitchFamily="18" charset="0"/>
              <a:cs typeface="Times New Roman" panose="02020603050405020304" pitchFamily="18" charset="0"/>
            </a:endParaRPr>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a:xfrm>
            <a:off x="581191" y="1540452"/>
            <a:ext cx="11029615" cy="3777095"/>
          </a:xfrm>
        </p:spPr>
        <p:txBody>
          <a:bodyPr>
            <a:normAutofit/>
          </a:bodyPr>
          <a:lstStyle/>
          <a:p>
            <a:pPr>
              <a:lnSpc>
                <a:spcPct val="150000"/>
              </a:lnSpc>
              <a:buFont typeface="Wingdings" panose="05000000000000000000" pitchFamily="2" charset="2"/>
              <a:buChar char="v"/>
            </a:pPr>
            <a:r>
              <a:rPr lang="en-US" sz="1600" dirty="0">
                <a:solidFill>
                  <a:srgbClr val="272525"/>
                </a:solidFill>
                <a:latin typeface="Times New Roman" panose="02020603050405020304" pitchFamily="18" charset="0"/>
                <a:ea typeface="Eudoxus Sans" pitchFamily="34" charset="-122"/>
                <a:cs typeface="Times New Roman" panose="02020603050405020304" pitchFamily="18" charset="0"/>
              </a:rPr>
              <a:t>Sentiment analysis on restaurant reviews provides valuable insights into customer opinions and experiences. By analyzing online reviews, restaurants can identify areas of strength and weakness, make data-driven decisions, and improve their overall customer experience.</a:t>
            </a:r>
          </a:p>
          <a:p>
            <a:pPr>
              <a:lnSpc>
                <a:spcPct val="150000"/>
              </a:lnSpc>
              <a:buFont typeface="Wingdings" panose="05000000000000000000" pitchFamily="2" charset="2"/>
              <a:buChar char="v"/>
            </a:pPr>
            <a:r>
              <a:rPr lang="en-US" sz="1600" dirty="0">
                <a:solidFill>
                  <a:srgbClr val="272525"/>
                </a:solidFill>
                <a:latin typeface="Times New Roman" panose="02020603050405020304" pitchFamily="18" charset="0"/>
                <a:ea typeface="Eudoxus Sans" pitchFamily="34" charset="-122"/>
                <a:cs typeface="Times New Roman" panose="02020603050405020304" pitchFamily="18" charset="0"/>
              </a:rPr>
              <a:t>The sentiment analysis model has given the restaurant a powerful tool to understand customer feedback. This has led to better decision-making and increased customer satisfaction and loyalty.</a:t>
            </a:r>
            <a:endParaRPr lang="en-US" sz="16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v"/>
            </a:pPr>
            <a:r>
              <a:rPr lang="en-US" sz="1600" dirty="0">
                <a:solidFill>
                  <a:srgbClr val="272525"/>
                </a:solidFill>
                <a:latin typeface="Times New Roman" panose="02020603050405020304" pitchFamily="18" charset="0"/>
                <a:ea typeface="Eudoxus Sans" pitchFamily="34" charset="-122"/>
                <a:cs typeface="Times New Roman" panose="02020603050405020304" pitchFamily="18" charset="0"/>
              </a:rPr>
              <a:t>The sentiment analysis model will continue to be refined over time, ensuring it remains an effective way to understand and improve the customer experience.</a:t>
            </a:r>
            <a:endParaRPr lang="en-US" sz="1600" dirty="0">
              <a:latin typeface="Times New Roman" panose="02020603050405020304" pitchFamily="18" charset="0"/>
              <a:cs typeface="Times New Roman" panose="02020603050405020304" pitchFamily="18" charset="0"/>
            </a:endParaRPr>
          </a:p>
          <a:p>
            <a:pPr marL="305435" indent="-305435"/>
            <a:endParaRPr lang="en-IN" sz="1600" dirty="0"/>
          </a:p>
        </p:txBody>
      </p:sp>
    </p:spTree>
    <p:extLst>
      <p:ext uri="{BB962C8B-B14F-4D97-AF65-F5344CB8AC3E}">
        <p14:creationId xmlns:p14="http://schemas.microsoft.com/office/powerpoint/2010/main" val="3183315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638FD1-D00E-E75B-705C-564F06D93D7B}"/>
              </a:ext>
            </a:extLst>
          </p:cNvPr>
          <p:cNvSpPr>
            <a:spLocks noGrp="1"/>
          </p:cNvSpPr>
          <p:nvPr>
            <p:ph idx="1"/>
          </p:nvPr>
        </p:nvSpPr>
        <p:spPr/>
        <p:txBody>
          <a:bodyPr>
            <a:normAutofit/>
          </a:bodyPr>
          <a:lstStyle/>
          <a:p>
            <a:pPr>
              <a:buFont typeface="Wingdings" panose="05000000000000000000" pitchFamily="2" charset="2"/>
              <a:buChar char="v"/>
            </a:pPr>
            <a:r>
              <a:rPr lang="en-US" sz="1600" b="1" dirty="0">
                <a:solidFill>
                  <a:srgbClr val="000000"/>
                </a:solidFill>
                <a:latin typeface="Times New Roman" panose="02020603050405020304" pitchFamily="18" charset="0"/>
                <a:ea typeface="p22-mackinac-pro" pitchFamily="34" charset="-122"/>
                <a:cs typeface="Times New Roman" panose="02020603050405020304" pitchFamily="18" charset="0"/>
              </a:rPr>
              <a:t> </a:t>
            </a:r>
            <a:r>
              <a:rPr lang="en-US" sz="1600" b="1" u="sng" dirty="0">
                <a:solidFill>
                  <a:srgbClr val="000000"/>
                </a:solidFill>
                <a:latin typeface="Times New Roman" panose="02020603050405020304" pitchFamily="18" charset="0"/>
                <a:ea typeface="p22-mackinac-pro" pitchFamily="34" charset="-122"/>
                <a:cs typeface="Times New Roman" panose="02020603050405020304" pitchFamily="18" charset="0"/>
              </a:rPr>
              <a:t>Multiclass</a:t>
            </a:r>
            <a:r>
              <a:rPr lang="en-US" sz="1600" b="1" dirty="0">
                <a:solidFill>
                  <a:srgbClr val="000000"/>
                </a:solidFill>
                <a:latin typeface="Times New Roman" panose="02020603050405020304" pitchFamily="18" charset="0"/>
                <a:ea typeface="p22-mackinac-pro" pitchFamily="34" charset="-122"/>
                <a:cs typeface="Times New Roman" panose="02020603050405020304" pitchFamily="18" charset="0"/>
              </a:rPr>
              <a:t> </a:t>
            </a:r>
            <a:r>
              <a:rPr lang="en-US" sz="1600" b="1" u="sng" dirty="0">
                <a:solidFill>
                  <a:srgbClr val="000000"/>
                </a:solidFill>
                <a:latin typeface="Times New Roman" panose="02020603050405020304" pitchFamily="18" charset="0"/>
                <a:ea typeface="p22-mackinac-pro" pitchFamily="34" charset="-122"/>
                <a:cs typeface="Times New Roman" panose="02020603050405020304" pitchFamily="18" charset="0"/>
              </a:rPr>
              <a:t>Classification</a:t>
            </a:r>
            <a:r>
              <a:rPr lang="en-US" sz="1600" b="1" dirty="0">
                <a:solidFill>
                  <a:srgbClr val="000000"/>
                </a:solidFill>
                <a:latin typeface="Times New Roman" panose="02020603050405020304" pitchFamily="18" charset="0"/>
                <a:ea typeface="p22-mackinac-pro" pitchFamily="34" charset="-122"/>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a:p>
            <a:pPr marL="0" indent="0">
              <a:buNone/>
            </a:pPr>
            <a:r>
              <a:rPr lang="en-US" sz="1600" dirty="0">
                <a:solidFill>
                  <a:srgbClr val="272525"/>
                </a:solidFill>
                <a:latin typeface="Times New Roman" panose="02020603050405020304" pitchFamily="18" charset="0"/>
                <a:ea typeface="Eudoxus Sans" pitchFamily="34" charset="-122"/>
                <a:cs typeface="Times New Roman" panose="02020603050405020304" pitchFamily="18" charset="0"/>
              </a:rPr>
              <a:t>         The current model classifies reviews as either positive or negative, but in the future, it could be expanded to include a third class for "neutral" reviews, providing even more granular insights into customer sentiment.</a:t>
            </a: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600" b="1" u="sng" dirty="0">
                <a:solidFill>
                  <a:srgbClr val="000000"/>
                </a:solidFill>
                <a:latin typeface="Times New Roman" panose="02020603050405020304" pitchFamily="18" charset="0"/>
                <a:ea typeface="p22-mackinac-pro" pitchFamily="34" charset="-122"/>
                <a:cs typeface="Times New Roman" panose="02020603050405020304" pitchFamily="18" charset="0"/>
              </a:rPr>
              <a:t>Sentiment</a:t>
            </a:r>
            <a:r>
              <a:rPr lang="en-US" sz="1600" b="1" dirty="0">
                <a:solidFill>
                  <a:srgbClr val="000000"/>
                </a:solidFill>
                <a:latin typeface="Times New Roman" panose="02020603050405020304" pitchFamily="18" charset="0"/>
                <a:ea typeface="p22-mackinac-pro" pitchFamily="34" charset="-122"/>
                <a:cs typeface="Times New Roman" panose="02020603050405020304" pitchFamily="18" charset="0"/>
              </a:rPr>
              <a:t> </a:t>
            </a:r>
            <a:r>
              <a:rPr lang="en-US" sz="1600" b="1" u="sng" dirty="0">
                <a:solidFill>
                  <a:srgbClr val="000000"/>
                </a:solidFill>
                <a:latin typeface="Times New Roman" panose="02020603050405020304" pitchFamily="18" charset="0"/>
                <a:ea typeface="p22-mackinac-pro" pitchFamily="34" charset="-122"/>
                <a:cs typeface="Times New Roman" panose="02020603050405020304" pitchFamily="18" charset="0"/>
              </a:rPr>
              <a:t>Trends</a:t>
            </a:r>
            <a:r>
              <a:rPr lang="en-US" sz="1600" b="1" dirty="0">
                <a:solidFill>
                  <a:srgbClr val="000000"/>
                </a:solidFill>
                <a:latin typeface="Times New Roman" panose="02020603050405020304" pitchFamily="18" charset="0"/>
                <a:ea typeface="p22-mackinac-pro" pitchFamily="34" charset="-122"/>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a:p>
            <a:pPr marL="0" indent="0">
              <a:buNone/>
            </a:pPr>
            <a:r>
              <a:rPr lang="en-US" sz="1600" dirty="0">
                <a:solidFill>
                  <a:srgbClr val="272525"/>
                </a:solidFill>
                <a:latin typeface="Times New Roman" panose="02020603050405020304" pitchFamily="18" charset="0"/>
                <a:ea typeface="Eudoxus Sans" pitchFamily="34" charset="-122"/>
                <a:cs typeface="Times New Roman" panose="02020603050405020304" pitchFamily="18" charset="0"/>
              </a:rPr>
              <a:t>          By integrating the sentiment analysis model with the restaurant's data analytics platform, the restaurant can track sentiment trends over time, identifying patterns and correlations that can inform strategic decision-making.</a:t>
            </a: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600" b="1" u="sng" dirty="0">
                <a:solidFill>
                  <a:srgbClr val="000000"/>
                </a:solidFill>
                <a:latin typeface="Times New Roman" panose="02020603050405020304" pitchFamily="18" charset="0"/>
                <a:ea typeface="p22-mackinac-pro" pitchFamily="34" charset="-122"/>
                <a:cs typeface="Times New Roman" panose="02020603050405020304" pitchFamily="18" charset="0"/>
              </a:rPr>
              <a:t>Personalization</a:t>
            </a:r>
            <a:r>
              <a:rPr lang="en-US" sz="1600" b="1" dirty="0">
                <a:solidFill>
                  <a:srgbClr val="000000"/>
                </a:solidFill>
                <a:latin typeface="Times New Roman" panose="02020603050405020304" pitchFamily="18" charset="0"/>
                <a:ea typeface="p22-mackinac-pro" pitchFamily="34" charset="-122"/>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a:p>
            <a:pPr marL="0" indent="0">
              <a:buNone/>
            </a:pPr>
            <a:r>
              <a:rPr lang="en-US" sz="1600" dirty="0">
                <a:solidFill>
                  <a:srgbClr val="272525"/>
                </a:solidFill>
                <a:latin typeface="Times New Roman" panose="02020603050405020304" pitchFamily="18" charset="0"/>
                <a:ea typeface="Eudoxus Sans" pitchFamily="34" charset="-122"/>
                <a:cs typeface="Times New Roman" panose="02020603050405020304" pitchFamily="18" charset="0"/>
              </a:rPr>
              <a:t>            The sentiment analysis model could be further enhanced by incorporating user-specific data, such as demographics and past ordering history, to provide personalized recommendations and targeted marketing campaigns</a:t>
            </a:r>
            <a:endParaRPr lang="en-US" sz="1600" dirty="0">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300" b="1" dirty="0">
                <a:solidFill>
                  <a:schemeClr val="accent1"/>
                </a:solidFill>
                <a:latin typeface="Times New Roman" panose="02020603050405020304" pitchFamily="18" charset="0"/>
                <a:cs typeface="Times New Roman" panose="02020603050405020304" pitchFamily="18" charset="0"/>
              </a:rPr>
              <a:t>Future</a:t>
            </a:r>
            <a:r>
              <a:rPr lang="en-US" sz="4400" b="1" dirty="0">
                <a:solidFill>
                  <a:schemeClr val="accent1"/>
                </a:solidFill>
                <a:latin typeface="Arial"/>
                <a:cs typeface="Arial"/>
              </a:rPr>
              <a:t> </a:t>
            </a:r>
            <a:r>
              <a:rPr lang="en-US" sz="4400" b="1" dirty="0">
                <a:solidFill>
                  <a:schemeClr val="accent1"/>
                </a:solidFill>
                <a:latin typeface="Times New Roman" panose="02020603050405020304" pitchFamily="18" charset="0"/>
                <a:cs typeface="Times New Roman" panose="02020603050405020304" pitchFamily="18" charset="0"/>
              </a:rPr>
              <a:t>scope</a:t>
            </a:r>
          </a:p>
        </p:txBody>
      </p:sp>
    </p:spTree>
    <p:extLst>
      <p:ext uri="{BB962C8B-B14F-4D97-AF65-F5344CB8AC3E}">
        <p14:creationId xmlns:p14="http://schemas.microsoft.com/office/powerpoint/2010/main" val="614882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Autofit/>
          </a:bodyPr>
          <a:lstStyle/>
          <a:p>
            <a:r>
              <a:rPr lang="en-US" sz="3200" b="1" dirty="0">
                <a:solidFill>
                  <a:schemeClr val="accent1"/>
                </a:solidFill>
                <a:latin typeface="Times New Roman" panose="02020603050405020304" pitchFamily="18" charset="0"/>
                <a:ea typeface="+mj-lt"/>
                <a:cs typeface="Times New Roman" panose="02020603050405020304" pitchFamily="18" charset="0"/>
              </a:rPr>
              <a:t>References</a:t>
            </a:r>
            <a:endParaRPr lang="en-US" sz="3200" dirty="0">
              <a:latin typeface="Times New Roman" panose="02020603050405020304" pitchFamily="18" charset="0"/>
              <a:cs typeface="Times New Roman" panose="02020603050405020304" pitchFamily="18" charset="0"/>
            </a:endParaRPr>
          </a:p>
        </p:txBody>
      </p:sp>
      <p:sp>
        <p:nvSpPr>
          <p:cNvPr id="2" name="Content Placeholder 1">
            <a:extLst>
              <a:ext uri="{FF2B5EF4-FFF2-40B4-BE49-F238E27FC236}">
                <a16:creationId xmlns:a16="http://schemas.microsoft.com/office/drawing/2014/main" id="{357C38BC-22B3-37B2-E0C3-812020A76077}"/>
              </a:ext>
            </a:extLst>
          </p:cNvPr>
          <p:cNvSpPr>
            <a:spLocks noGrp="1"/>
          </p:cNvSpPr>
          <p:nvPr>
            <p:ph idx="1"/>
          </p:nvPr>
        </p:nvSpPr>
        <p:spPr>
          <a:xfrm>
            <a:off x="581192" y="967304"/>
            <a:ext cx="11029615" cy="3324514"/>
          </a:xfrm>
        </p:spPr>
        <p:txBody>
          <a:bodyPr>
            <a:normAutofit/>
          </a:bodyPr>
          <a:lstStyle/>
          <a:p>
            <a:pPr marL="0" indent="0">
              <a:buNone/>
            </a:pPr>
            <a:r>
              <a:rPr lang="en-US" sz="1600" dirty="0"/>
              <a:t>These references are detailed explanations and examples of how to perform sentiment analysis on restaurant reviews, including data preprocessing, model training, and result interpretation.</a:t>
            </a:r>
          </a:p>
          <a:p>
            <a:pPr>
              <a:buFont typeface="Arial" panose="020B0604020202020204" pitchFamily="34" charset="0"/>
              <a:buChar char="•"/>
            </a:pPr>
            <a:r>
              <a:rPr lang="en-US" sz="1600" dirty="0"/>
              <a:t> GeeksforGeeks: Provides a machine learning project for sentiment analysis of restaurant reviews.- (link unavailable) Offers a paper on sentiment analysis for predicting Yelp scores.</a:t>
            </a:r>
          </a:p>
          <a:p>
            <a:pPr>
              <a:buFont typeface="Arial" panose="020B0604020202020204" pitchFamily="34" charset="0"/>
              <a:buChar char="•"/>
            </a:pPr>
            <a:r>
              <a:rPr lang="en-US" sz="1600" dirty="0"/>
              <a:t>Machine Learning Geek: Provides a tutorial on analyzing sentiments of restaurant reviews.</a:t>
            </a:r>
          </a:p>
          <a:p>
            <a:pPr>
              <a:buFont typeface="Arial" panose="020B0604020202020204" pitchFamily="34" charset="0"/>
              <a:buChar char="•"/>
            </a:pPr>
            <a:r>
              <a:rPr lang="en-US" sz="1600" dirty="0"/>
              <a:t>IEEE Xplore: Offers a paper on sentiment analysis of restaurant reviews. </a:t>
            </a:r>
          </a:p>
          <a:p>
            <a:pPr>
              <a:buFont typeface="Arial" panose="020B0604020202020204" pitchFamily="34" charset="0"/>
              <a:buChar char="•"/>
            </a:pPr>
            <a:r>
              <a:rPr lang="en-US" sz="1600" dirty="0"/>
              <a:t>Springer: Also offers a paper on sentiment analysis of restaurant reviews</a:t>
            </a:r>
            <a:endParaRPr lang="en-IN" sz="1600" dirty="0"/>
          </a:p>
        </p:txBody>
      </p:sp>
    </p:spTree>
    <p:extLst>
      <p:ext uri="{BB962C8B-B14F-4D97-AF65-F5344CB8AC3E}">
        <p14:creationId xmlns:p14="http://schemas.microsoft.com/office/powerpoint/2010/main" val="728950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8D001-35CD-3E78-E786-1B43EB3B258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174F9E7-97F4-198C-EF3D-692BE54D2CFC}"/>
              </a:ext>
            </a:extLst>
          </p:cNvPr>
          <p:cNvSpPr>
            <a:spLocks noGrp="1"/>
          </p:cNvSpPr>
          <p:nvPr>
            <p:ph idx="1"/>
          </p:nvPr>
        </p:nvSpPr>
        <p:spPr>
          <a:xfrm>
            <a:off x="2897108" y="2826914"/>
            <a:ext cx="7469109" cy="1439564"/>
          </a:xfrm>
        </p:spPr>
        <p:txBody>
          <a:bodyPr>
            <a:noAutofit/>
          </a:bodyPr>
          <a:lstStyle/>
          <a:p>
            <a:pPr marL="0" indent="0">
              <a:buNone/>
            </a:pPr>
            <a:r>
              <a:rPr lang="en-US" sz="7200" dirty="0">
                <a:ln w="0"/>
                <a:solidFill>
                  <a:schemeClr val="accent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483892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D289AE2-D2AE-49D1-AFAC-3A79F6794255}">
  <ds:schemaRefs>
    <ds:schemaRef ds:uri="http://schemas.openxmlformats.org/package/2006/metadata/core-properties"/>
    <ds:schemaRef ds:uri="http://www.w3.org/XML/1998/namespace"/>
    <ds:schemaRef ds:uri="http://schemas.microsoft.com/office/2006/documentManagement/types"/>
    <ds:schemaRef ds:uri="http://schemas.microsoft.com/office/infopath/2007/PartnerControls"/>
    <ds:schemaRef ds:uri="c0fa2617-96bd-425d-8578-e93563fe37c5"/>
    <ds:schemaRef ds:uri="http://purl.org/dc/dcmitype/"/>
    <ds:schemaRef ds:uri="http://purl.org/dc/terms/"/>
    <ds:schemaRef ds:uri="9162bd5b-4ed9-4da3-b376-05204580ba3f"/>
    <ds:schemaRef ds:uri="http://schemas.microsoft.com/office/2006/metadata/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Future forward</Template>
  <TotalTime>410</TotalTime>
  <Words>1002</Words>
  <Application>Microsoft Office PowerPoint</Application>
  <PresentationFormat>Widescreen</PresentationFormat>
  <Paragraphs>68</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Calibri</vt:lpstr>
      <vt:lpstr>Franklin Gothic Book</vt:lpstr>
      <vt:lpstr>Franklin Gothic Demi</vt:lpstr>
      <vt:lpstr>Times New Roman</vt:lpstr>
      <vt:lpstr>Wingdings</vt:lpstr>
      <vt:lpstr>Wingdings 2</vt:lpstr>
      <vt:lpstr>DividendVTI</vt:lpstr>
      <vt:lpstr>SENTIMENT ANALYSIS OF  restaurant reviews </vt:lpstr>
      <vt:lpstr>OUTLINE</vt:lpstr>
      <vt:lpstr>Problem Statement</vt:lpstr>
      <vt:lpstr>PROPOSED SYSTEM/SOLUTION</vt:lpstr>
      <vt:lpstr>SYSTEM DEVELOPMENT APPROACH</vt:lpstr>
      <vt:lpstr>Algorithm &amp; Deployment  </vt:lpstr>
      <vt:lpstr>RESULT</vt:lpstr>
      <vt:lpstr>Conclusion</vt:lpstr>
      <vt:lpstr>PowerPoint Presentation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DUTTA Dhanush</cp:lastModifiedBy>
  <cp:revision>27</cp:revision>
  <dcterms:created xsi:type="dcterms:W3CDTF">2021-05-26T16:50:10Z</dcterms:created>
  <dcterms:modified xsi:type="dcterms:W3CDTF">2024-06-22T13:08:22Z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